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JetBrains Mono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0bf2925c-b28a-45e3-ad4f-4b2ec7c6b39a.fntdata" /><ns0:Relationship Id="rIdFont18" Type="http://schemas.openxmlformats.org/officeDocument/2006/relationships/font" Target="fonts/186088ee-c862-4740-a5ca-7e15f0364065.fntdata" /><ns0:Relationship Id="rIdFont19" Type="http://schemas.openxmlformats.org/officeDocument/2006/relationships/font" Target="fonts/068faac0-ac7a-4845-ad04-f5203c82321d.fntdata" /><ns0:Relationship Id="rIdFont20" Type="http://schemas.openxmlformats.org/officeDocument/2006/relationships/font" Target="fonts/4b95df59-c846-4378-8acd-b41d9fa443a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505301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1E1E1E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75" y="5810101"/>
            <a:ext cx="114300" cy="133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5810101"/>
            <a:ext cx="114300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5" y="5810101"/>
            <a:ext cx="1143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29527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5705326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225" y="5705326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9450" y="5705326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1675" y="5705326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475" y="5800576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5800576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4700" y="5800576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6925" y="5800576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82200" y="67627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8888"/>
                </a:solidFill>
                <a:latin typeface="JetBrains Mono"/>
              </a:rPr>
              <a:t>BASELINES + RAG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281237"/>
            <a:ext cx="11251406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800" i="0" u="none">
                <a:solidFill>
                  <a:srgbClr val="FFFFFF"/>
                </a:solidFill>
                <a:latin typeface="Plus Jakarta Sans"/>
              </a:rPr>
              <a:t>SpotifyCares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73598"/>
            <a:ext cx="10715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0" sz="1950" i="0" u="none">
                <a:solidFill>
                  <a:srgbClr val="1ED760"/>
                </a:solidFill>
                <a:latin typeface="Plus Jakarta Sans"/>
              </a:rPr>
              <a:t>AI Customer Support Agent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24113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A0A0A0"/>
                </a:solidFill>
                <a:latin typeface="Plus Jakarta Sans"/>
              </a:rPr>
              <a:t>Grounded retrieval and adaptive reasoning for automated customer care and intelligent human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1575" y="676275"/>
            <a:ext cx="309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D760"/>
                </a:solidFill>
                <a:latin typeface="JetBrains Mono"/>
              </a:rPr>
              <a:t>HIVER SDE INTERN TAKE-HOME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5425" y="5786288"/>
            <a:ext cx="1428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0E0E0"/>
                </a:solidFill>
                <a:latin typeface="Plus Jakarta Sans"/>
              </a:rPr>
              <a:t>Customer Tweet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425" y="5786288"/>
            <a:ext cx="13239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0E0E0"/>
                </a:solidFill>
                <a:latin typeface="Plus Jakarta Sans"/>
              </a:rPr>
              <a:t>FAISS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650" y="5786288"/>
            <a:ext cx="9429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0E0E0"/>
                </a:solidFill>
                <a:latin typeface="Plus Jakarta Sans"/>
              </a:rPr>
              <a:t>Groq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8875" y="5786288"/>
            <a:ext cx="13906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D760"/>
                </a:solidFill>
                <a:latin typeface="Plus Jakarta Sans"/>
              </a:rPr>
              <a:t>Reply +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20250" y="533400"/>
            <a:ext cx="1962150" cy="371475"/>
          </a:xfrm>
          <a:prstGeom prst="roundRect">
            <a:avLst>
              <a:gd name="adj" fmla="val 50000"/>
            </a:avLst>
          </a:prstGeom>
          <a:solidFill>
            <a:srgbClr val="EEF8F2"/>
          </a:solidFill>
          <a:ln w="9525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524000"/>
            <a:ext cx="5372100" cy="4800600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524000"/>
            <a:ext cx="5372100" cy="4800600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80022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80022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189547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4610100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5153025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5695950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89547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610100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5153025"/>
            <a:ext cx="10477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5695950"/>
            <a:ext cx="104775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638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01. PROBLEM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609600"/>
            <a:ext cx="17526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Grounded &amp; Safe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90575"/>
            <a:ext cx="8251031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What "Good" Means for SpotifyCares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1871662"/>
            <a:ext cx="196274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21212"/>
                </a:solidFill>
                <a:latin typeface="Plus Jakarta Sans"/>
              </a:rPr>
              <a:t>Core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1825" y="1871662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21212"/>
                </a:solidFill>
                <a:latin typeface="Plus Jakarta Sans"/>
              </a:rPr>
              <a:t>Explicitly Out of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4572000"/>
            <a:ext cx="4857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Evidence-Based Grounding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4791075"/>
            <a:ext cx="4857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Use historical cases as supporting evidence, not absolute truth.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5114925"/>
            <a:ext cx="5310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Intent-Aware Responses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5334000"/>
            <a:ext cx="531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Address underlying user intent rather than simple keyword matching.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425" y="5657850"/>
            <a:ext cx="4655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Decoupled Safety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425" y="5876925"/>
            <a:ext cx="4655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Separately decide AI resolution versus human agent routing.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0" y="4572000"/>
            <a:ext cx="5393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Direct Action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4791075"/>
            <a:ext cx="5393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No automated refund engine or direct backend account modification.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600" y="5114925"/>
            <a:ext cx="4786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Static Rule 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600" y="5334000"/>
            <a:ext cx="4786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Avoid hardcoded rules routing entire intent classes to humans.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600" y="5657850"/>
            <a:ext cx="5083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End-to-End Fine-Tuning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5600" y="5876925"/>
            <a:ext cx="5083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No custom generator fine-tuning; relies on RAG with prompt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62575"/>
            <a:ext cx="10972800" cy="962025"/>
          </a:xfrm>
          <a:prstGeom prst="roundRect">
            <a:avLst>
              <a:gd name="adj" fmla="val 15841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04194"/>
            <a:ext cx="2443162" cy="1449585"/>
          </a:xfrm>
          <a:prstGeom prst="roundRect">
            <a:avLst>
              <a:gd name="adj" fmla="val 7885"/>
            </a:avLst>
          </a:prstGeom>
          <a:solidFill>
            <a:srgbClr val="F8F9FA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2812" y="2604194"/>
            <a:ext cx="2443162" cy="1449585"/>
          </a:xfrm>
          <a:prstGeom prst="roundRect">
            <a:avLst>
              <a:gd name="adj" fmla="val 7885"/>
            </a:avLst>
          </a:prstGeom>
          <a:solidFill>
            <a:srgbClr val="F8F9FA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96025" y="2604194"/>
            <a:ext cx="2443162" cy="1449585"/>
          </a:xfrm>
          <a:prstGeom prst="roundRect">
            <a:avLst>
              <a:gd name="adj" fmla="val 7885"/>
            </a:avLst>
          </a:prstGeom>
          <a:solidFill>
            <a:srgbClr val="F8F9FA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39237" y="2604194"/>
            <a:ext cx="2443162" cy="1449585"/>
          </a:xfrm>
          <a:prstGeom prst="roundRect">
            <a:avLst>
              <a:gd name="adj" fmla="val 7885"/>
            </a:avLst>
          </a:prstGeom>
          <a:solidFill>
            <a:srgbClr val="EEF8F2"/>
          </a:solidFill>
          <a:ln w="9525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20300" y="5667375"/>
            <a:ext cx="1219200" cy="352425"/>
          </a:xfrm>
          <a:prstGeom prst="roundRect">
            <a:avLst>
              <a:gd name="adj" fmla="val 21621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252787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252787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252787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5710237"/>
            <a:ext cx="2381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02.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Data Grounding + LLM Reasoning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2700" y="5743575"/>
            <a:ext cx="1009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D760"/>
                </a:solidFill>
                <a:latin typeface="Plus Jakarta Sans"/>
              </a:rPr>
              <a:t>Safety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842319"/>
            <a:ext cx="24586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109019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Plus Jakarta Sans"/>
              </a:rPr>
              <a:t>User Tweet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442394"/>
            <a:ext cx="2062162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66666"/>
                </a:solidFill>
                <a:latin typeface="Plus Jakarta Sans"/>
              </a:rPr>
              <a:t>Raw customer message received via Twitter/X channel.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0937" y="2842319"/>
            <a:ext cx="24586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0937" y="3109019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Plus Jakarta Sans"/>
              </a:rPr>
              <a:t>FAISS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0937" y="3442394"/>
            <a:ext cx="2062162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66666"/>
                </a:solidFill>
                <a:latin typeface="Plus Jakarta Sans"/>
              </a:rPr>
              <a:t>MiniLM-L6 embeddings + IndexFlatIP top-3 search.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2842319"/>
            <a:ext cx="24586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3109019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Plus Jakarta Sans"/>
              </a:rPr>
              <a:t>Groq LLM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3442394"/>
            <a:ext cx="2062162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66666"/>
                </a:solidFill>
                <a:latin typeface="Plus Jakarta Sans"/>
              </a:rPr>
              <a:t>Synthesizes context, evaluates safety &amp; details.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7362" y="2842319"/>
            <a:ext cx="24586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STEP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7362" y="3109019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Plus Jakarta Sans"/>
              </a:rPr>
              <a:t>Structured Reply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7362" y="3442394"/>
            <a:ext cx="2062162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21212"/>
                </a:solidFill>
                <a:latin typeface="Plus Jakarta Sans"/>
              </a:rPr>
              <a:t>Returns intent, routing tag &amp; generated reply.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1125" y="5629275"/>
            <a:ext cx="947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Deterministic Human Escalation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125" y="5886450"/>
            <a:ext cx="947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0A0A0"/>
                </a:solidFill>
                <a:latin typeface="Plus Jakarta Sans"/>
              </a:rPr>
              <a:t>If HUMAN AGENT is selected, Python replaces model output with fixed contact information to prevent contact hallucination.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27489"/>
            <a:ext cx="10972800" cy="697110"/>
          </a:xfrm>
          <a:prstGeom prst="roundRect">
            <a:avLst>
              <a:gd name="adj" fmla="val 16396"/>
            </a:avLst>
          </a:prstGeom>
          <a:solidFill>
            <a:srgbClr val="F8F9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18457"/>
            <a:ext cx="3524250" cy="2124075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24350" y="2418457"/>
            <a:ext cx="3524250" cy="2124075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39100" y="2408932"/>
            <a:ext cx="3543300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9050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5825" y="3942457"/>
            <a:ext cx="29718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00575" y="3942457"/>
            <a:ext cx="2971800" cy="952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4850" y="3942457"/>
            <a:ext cx="2971800" cy="9525"/>
          </a:xfrm>
          <a:prstGeom prst="rect">
            <a:avLst/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890319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03. BASELINE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Benchmarking System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5789414"/>
            <a:ext cx="102679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555555"/>
                </a:solidFill>
                <a:latin typeface="Plus Jakarta Sans"/>
              </a:rPr>
              <a:t>Evaluation Data Rigor:</a:t>
            </a:r>
            <a:r>
              <a:rPr b="0" sz="1050" i="0" u="none">
                <a:solidFill>
                  <a:srgbClr val="555555"/>
                </a:solidFill>
                <a:latin typeface="Plus Jakarta Sans"/>
              </a:rPr>
              <a:t> Code defines baselines &amp; metrics, but raw output logs were omitted in uploaded source. This deck avoids inventing synthetic accuracy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694682"/>
            <a:ext cx="371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88888"/>
                </a:solidFill>
                <a:latin typeface="JetBrains Mono"/>
              </a:rPr>
              <a:t>BASELINE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999482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21212"/>
                </a:solidFill>
                <a:latin typeface="Plus Jakarta Sans"/>
              </a:rPr>
              <a:t>Char TF-IDF 1-NN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39000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66666"/>
                </a:solidFill>
                <a:latin typeface="Plus Jakarta Sans"/>
              </a:rPr>
              <a:t>Matches 3–5 character n-grams to find top historical tweet.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056757"/>
            <a:ext cx="3067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88888"/>
                </a:solidFill>
                <a:latin typeface="Plus Jakarta Sans"/>
              </a:rPr>
              <a:t>Output: Direct historical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2694682"/>
            <a:ext cx="371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88888"/>
                </a:solidFill>
                <a:latin typeface="JetBrains Mono"/>
              </a:rPr>
              <a:t>BASELINE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575" y="2999482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21212"/>
                </a:solidFill>
                <a:latin typeface="Plus Jakarta Sans"/>
              </a:rPr>
              <a:t>Word TF-IDF + LogReg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575" y="339000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66666"/>
                </a:solidFill>
                <a:latin typeface="Plus Jakarta Sans"/>
              </a:rPr>
              <a:t>Supervised Logistic Regression over word n-gram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575" y="4056757"/>
            <a:ext cx="3067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88888"/>
                </a:solidFill>
                <a:latin typeface="Plus Jakarta Sans"/>
              </a:rPr>
              <a:t>Output: Intent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850" y="2694682"/>
            <a:ext cx="371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PROPOSED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50" y="2999482"/>
            <a:ext cx="386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21212"/>
                </a:solidFill>
                <a:latin typeface="Plus Jakarta Sans"/>
              </a:rPr>
              <a:t>FAISS + RAG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50" y="3390007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66666"/>
                </a:solidFill>
                <a:latin typeface="Plus Jakarta Sans"/>
              </a:rPr>
              <a:t>Semantic retrieval combined with LLM reasoning.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850" y="4056757"/>
            <a:ext cx="3067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Output: Intent + Reply +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19287"/>
            <a:ext cx="10972800" cy="695325"/>
          </a:xfrm>
          <a:prstGeom prst="roundRect">
            <a:avLst>
              <a:gd name="adj" fmla="val 13698"/>
            </a:avLst>
          </a:prstGeom>
          <a:solidFill>
            <a:srgbClr val="FAFA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28912"/>
            <a:ext cx="10972800" cy="695325"/>
          </a:xfrm>
          <a:prstGeom prst="roundRect">
            <a:avLst>
              <a:gd name="adj" fmla="val 13698"/>
            </a:avLst>
          </a:prstGeom>
          <a:solidFill>
            <a:srgbClr val="FAFA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38537"/>
            <a:ext cx="10972800" cy="695325"/>
          </a:xfrm>
          <a:prstGeom prst="roundRect">
            <a:avLst>
              <a:gd name="adj" fmla="val 13698"/>
            </a:avLst>
          </a:prstGeom>
          <a:solidFill>
            <a:srgbClr val="FAFA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48162"/>
            <a:ext cx="10972800" cy="695325"/>
          </a:xfrm>
          <a:prstGeom prst="roundRect">
            <a:avLst>
              <a:gd name="adj" fmla="val 13698"/>
            </a:avLst>
          </a:prstGeom>
          <a:solidFill>
            <a:srgbClr val="FAFA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157787"/>
            <a:ext cx="10972800" cy="695325"/>
          </a:xfrm>
          <a:prstGeom prst="roundRect">
            <a:avLst>
              <a:gd name="adj" fmla="val 13698"/>
            </a:avLst>
          </a:prstGeom>
          <a:solidFill>
            <a:srgbClr val="FAFA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04. RISK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Top 5 Observed Failure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181225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90850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00475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610100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419725"/>
            <a:ext cx="438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2081212"/>
            <a:ext cx="11001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Casual / Non-Support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2281237"/>
            <a:ext cx="1100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Chitchat ("okay dad love you") triggers exact matches; must avoid unnecessary escalation.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2890837"/>
            <a:ext cx="11001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Keyword Cancellation Traps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3090862"/>
            <a:ext cx="1100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Threats to cancel playback issues shouldn't misclassify as pure cancellation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3700462"/>
            <a:ext cx="11001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Historical Response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3900487"/>
            <a:ext cx="1100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Semantically similar user tweets can contain poor historical agent answers.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4510087"/>
            <a:ext cx="11001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Under-Specified Complaints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4710112"/>
            <a:ext cx="1100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Vague inputs ("doesn't work") lack specific context for safe automated troubleshooting.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5319712"/>
            <a:ext cx="11001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Noisy Source Data &amp; Provisional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5519737"/>
            <a:ext cx="1100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Provisional intent labels in dataset cannot serve as unverified ground 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2541240"/>
            <a:ext cx="5715000" cy="2689770"/>
          </a:xfrm>
          <a:prstGeom prst="roundRect">
            <a:avLst>
              <a:gd name="adj" fmla="val 5665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33637"/>
            <a:ext cx="495300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395662"/>
            <a:ext cx="49530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29137"/>
            <a:ext cx="495300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4488060"/>
            <a:ext cx="49530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922240"/>
            <a:ext cx="4953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05. CRITICAL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Why Headline Accuracy Can Mislead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417540"/>
            <a:ext cx="5048250" cy="88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FFFFFF"/>
                </a:solidFill>
                <a:latin typeface="Plus Jakarta Sans"/>
              </a:rPr>
              <a:t>"Results are preliminary until measured on an independently hand-labelled 150–250 example golden set."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4640460"/>
            <a:ext cx="504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D760"/>
                </a:solidFill>
                <a:latin typeface="Plus Jakarta Sans"/>
              </a:rPr>
              <a:t>HONEST HEADLINE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633662"/>
            <a:ext cx="58757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Provisional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871787"/>
            <a:ext cx="559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Dataset intent field was auto-generated without human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95687"/>
            <a:ext cx="58757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Near-Duplicate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33812"/>
            <a:ext cx="457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Identical past tickets boost retrieval scores without proving real generalization.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729162"/>
            <a:ext cx="58757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Reply Quality Ignored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967287"/>
            <a:ext cx="559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Intent accuracy measures classification, not answer correctness or tone.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0"/>
            <a:ext cx="10972800" cy="1028700"/>
          </a:xfrm>
          <a:prstGeom prst="roundRect">
            <a:avLst>
              <a:gd name="adj" fmla="val 7407"/>
            </a:avLst>
          </a:prstGeom>
          <a:solidFill>
            <a:srgbClr val="EEF8F2"/>
          </a:solidFill>
          <a:ln w="9525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47900"/>
            <a:ext cx="5391150" cy="1009650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247900"/>
            <a:ext cx="38100" cy="10096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247900"/>
            <a:ext cx="5391150" cy="1009650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0" y="2247900"/>
            <a:ext cx="38100" cy="10096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409950"/>
            <a:ext cx="5391150" cy="1009650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409950"/>
            <a:ext cx="38100" cy="10096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0" y="3409950"/>
            <a:ext cx="5391150" cy="1009650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0" y="3409950"/>
            <a:ext cx="38100" cy="10096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06. FUTURE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1-Week Production Execution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762500"/>
            <a:ext cx="106108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DAYS 6–7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38400"/>
            <a:ext cx="50292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DAYS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2438400"/>
            <a:ext cx="50292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00450"/>
            <a:ext cx="50292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DAY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600450"/>
            <a:ext cx="50292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DAY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010150"/>
            <a:ext cx="11344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Failure-Driven Optimizations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5229225"/>
            <a:ext cx="11344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44444"/>
                </a:solidFill>
                <a:latin typeface="Plus Jakarta Sans"/>
              </a:rPr>
              <a:t>Implement deduplication, similarity thresholding, tighter escalation logic &amp; latency tracking.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676525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Human Golden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2895600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Label 150–250 examples with ground-truth intent, routing &amp; answer utility.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2676525"/>
            <a:ext cx="5734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Unified Benchmarking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2895600"/>
            <a:ext cx="5734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Evaluate majority baseline, LogReg, retrieval-only, and RAG on gold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838575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Retrieval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4057650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Measure Recall@3 and relevance filtering to prune misleading matches.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950" y="3838575"/>
            <a:ext cx="5734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LLM-as-Judge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950" y="4057650"/>
            <a:ext cx="5734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Assess correctness, tone, and grounding via automated judge rubrics.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3637"/>
            <a:ext cx="54102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433637"/>
            <a:ext cx="54102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67112"/>
            <a:ext cx="541020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567112"/>
            <a:ext cx="541020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529137"/>
            <a:ext cx="541020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4529137"/>
            <a:ext cx="541020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07. ARCHITECTURE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Key Design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33662"/>
            <a:ext cx="657582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Decoupled Safety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871787"/>
            <a:ext cx="626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Intent classification and AI vs. Human handling are evaluated separately.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25" y="2633662"/>
            <a:ext cx="5819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External Phone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225" y="2871787"/>
            <a:ext cx="510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Contact details kept in Python wrapper to eliminate hallucinated support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767137"/>
            <a:ext cx="657582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Reference-Only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005262"/>
            <a:ext cx="626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Historical cases treated as guidance rather than unalterable truth.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3767137"/>
            <a:ext cx="5819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Top-3 Context 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4005262"/>
            <a:ext cx="58197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Retrieval limited to 3 items to control prompt length, cost, and context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729162"/>
            <a:ext cx="657582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Structured JSON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967287"/>
            <a:ext cx="626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Deterministic parsing of fields ensures consistent API responses.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225" y="4729162"/>
            <a:ext cx="5819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21212"/>
                </a:solidFill>
                <a:latin typeface="Plus Jakarta Sans"/>
              </a:rPr>
              <a:t>Single Brand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4967287"/>
            <a:ext cx="58197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Focused strictly on Spotify customer support domain for higher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47800"/>
            <a:ext cx="10972800" cy="4876800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25" y="3219450"/>
            <a:ext cx="1042035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895725"/>
            <a:ext cx="51149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895725"/>
            <a:ext cx="5114925" cy="914400"/>
          </a:xfrm>
          <a:prstGeom prst="roundRect">
            <a:avLst>
              <a:gd name="adj" fmla="val 8333"/>
            </a:avLst>
          </a:prstGeom>
          <a:solidFill>
            <a:srgbClr val="EEF8F2"/>
          </a:solidFill>
          <a:ln w="9525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08. LIVE DEMO &amp; ESCALATION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21212"/>
                </a:solidFill>
                <a:latin typeface="Plus Jakarta Sans"/>
              </a:rPr>
              <a:t>System Execution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962275"/>
            <a:ext cx="105156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88888"/>
                </a:solidFill>
                <a:latin typeface="Plus Jakarta Sans"/>
              </a:rPr>
              <a:t>USER TWEET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048125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650" y="4048125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SAFE ESCALATION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3362325"/>
            <a:ext cx="11106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21212"/>
                </a:solidFill>
                <a:latin typeface="Plus Jakarta Sans"/>
              </a:rPr>
              <a:t>"i have a problem with my spotify music i want to talk to my spotify support team"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4295775"/>
            <a:ext cx="598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21212"/>
                </a:solidFill>
                <a:latin typeface="Plus Jakarta Sans"/>
              </a:rPr>
              <a:t>Intent: human_agent_request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4495800"/>
            <a:ext cx="5988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66666"/>
                </a:solidFill>
                <a:latin typeface="Plus Jakarta Sans"/>
              </a:rPr>
              <a:t>Routing Tag: HUMAN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175" y="4295775"/>
            <a:ext cx="4886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21212"/>
                </a:solidFill>
                <a:latin typeface="Plus Jakarta Sans"/>
              </a:rPr>
              <a:t>"Python inserts fixed official customer care details without LLM hallucination."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838825"/>
            <a:ext cx="106680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838825"/>
            <a:ext cx="1066800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25717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0"/>
            <a:ext cx="1143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096000"/>
            <a:ext cx="1143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525" y="6096000"/>
            <a:ext cx="11430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0" y="657225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88888"/>
                </a:solidFill>
                <a:latin typeface="JetBrains Mono"/>
              </a:rPr>
              <a:t>SUMMARY &amp;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473672"/>
            <a:ext cx="810101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Grounded Support. Safe Escalation. Transparent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9952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A0A0A0"/>
                </a:solidFill>
                <a:latin typeface="Plus Jakarta Sans"/>
              </a:rPr>
              <a:t>SpotifyCares bridges historical support data with LLM reasoning—prioritizing factual grounding, safety guardrails, and realistic evaluation over inflated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076950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D760"/>
                </a:solidFill>
                <a:latin typeface="JetBrains Mono"/>
              </a:rPr>
              <a:t>Baselines + RAG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657225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D760"/>
                </a:solidFill>
                <a:latin typeface="JetBrains Mono"/>
              </a:rPr>
              <a:t>SPOTIFYCARES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6076950"/>
            <a:ext cx="1219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CCCCC"/>
                </a:solidFill>
                <a:latin typeface="Plus Jakarta Sans"/>
              </a:rPr>
              <a:t>FAISS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5050" y="6076950"/>
            <a:ext cx="1607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CCCCC"/>
                </a:solidFill>
                <a:latin typeface="Plus Jakarta Sans"/>
              </a:rPr>
              <a:t>Groq LLM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0025" y="6076950"/>
            <a:ext cx="226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CCCCC"/>
                </a:solidFill>
                <a:latin typeface="Plus Jakarta Sans"/>
              </a:rPr>
              <a:t>Deterministic Human 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